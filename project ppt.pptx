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Project 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Vinaya Manthalker</a:t>
            </a:r>
          </a:p>
          <a:p>
            <a:pPr marL="457200" indent="-457200">
              <a:buAutoNum type="arabicPeriod"/>
            </a:pPr>
            <a:r>
              <a:rPr lang="en-US" sz="2000" b="1" dirty="0">
                <a:solidFill>
                  <a:schemeClr val="accent1">
                    <a:lumMod val="75000"/>
                  </a:schemeClr>
                </a:solidFill>
                <a:latin typeface="Arial"/>
                <a:cs typeface="Arial"/>
              </a:rPr>
              <a:t>College Name- Malla Reddy college of engineering for women</a:t>
            </a:r>
          </a:p>
          <a:p>
            <a:pPr marL="457200" indent="-457200">
              <a:buAutoNum type="arabicPeriod"/>
            </a:pPr>
            <a:r>
              <a:rPr lang="en-US" sz="2000" b="1" dirty="0">
                <a:solidFill>
                  <a:schemeClr val="accent1">
                    <a:lumMod val="75000"/>
                  </a:schemeClr>
                </a:solidFill>
                <a:latin typeface="Arial"/>
                <a:cs typeface="Arial"/>
              </a:rPr>
              <a:t>Department- CSE(AI&amp;ML)</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400" dirty="0"/>
              <a:t>.</a:t>
            </a:r>
            <a:endParaRPr lang="en-IN" sz="1400" dirty="0"/>
          </a:p>
        </p:txBody>
      </p:sp>
      <p:sp>
        <p:nvSpPr>
          <p:cNvPr id="4" name="TextBox 3">
            <a:extLst>
              <a:ext uri="{FF2B5EF4-FFF2-40B4-BE49-F238E27FC236}">
                <a16:creationId xmlns:a16="http://schemas.microsoft.com/office/drawing/2014/main" id="{2A437504-1835-0834-C435-22393D5D0F50}"/>
              </a:ext>
            </a:extLst>
          </p:cNvPr>
          <p:cNvSpPr txBox="1"/>
          <p:nvPr/>
        </p:nvSpPr>
        <p:spPr>
          <a:xfrm>
            <a:off x="1299410" y="1713091"/>
            <a:ext cx="10555706" cy="4893647"/>
          </a:xfrm>
          <a:prstGeom prst="rect">
            <a:avLst/>
          </a:prstGeom>
          <a:noFill/>
        </p:spPr>
        <p:txBody>
          <a:bodyPr wrap="square">
            <a:spAutoFit/>
          </a:bodyPr>
          <a:lstStyle/>
          <a:p>
            <a:r>
              <a:rPr lang="en-US" sz="2400" dirty="0">
                <a:ea typeface="+mn-lt"/>
                <a:cs typeface="+mn-lt"/>
              </a:rPr>
              <a:t>Students often struggle to understand complex academic concepts during self-study. Searching for information online frequently results in long, irrelevant, or unstructured content, which makes learning time-consuming and confusing. Additionally, teachers may not always be available to provide immediate assistance when students face doubts.</a:t>
            </a:r>
            <a:endParaRPr lang="en-US" sz="2400" dirty="0"/>
          </a:p>
          <a:p>
            <a:r>
              <a:rPr lang="en-US" sz="2400" dirty="0">
                <a:ea typeface="+mn-lt"/>
                <a:cs typeface="+mn-lt"/>
              </a:rPr>
              <a:t>There is also a lack of personalized and interactive learning tools that can explain concepts in simple language, summarize study notes, and help students assess their understanding through quizzes and flashcards.</a:t>
            </a:r>
          </a:p>
          <a:p>
            <a:r>
              <a:rPr lang="en-US" sz="2400" dirty="0">
                <a:ea typeface="+mn-lt"/>
                <a:cs typeface="+mn-lt"/>
              </a:rPr>
              <a:t>Therefore, there is a need for an AI-powered Study Buddy that provides instant, simple, and interactive learning support to help students learn effectively at their own pace.</a:t>
            </a:r>
            <a:endParaRPr lang="en-US" sz="2400" dirty="0"/>
          </a:p>
          <a:p>
            <a:endParaRPr lang="en-US" sz="2400" dirty="0"/>
          </a:p>
          <a:p>
            <a:endParaRPr lang="en-US" sz="2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4" name="TextBox 3">
            <a:extLst>
              <a:ext uri="{FF2B5EF4-FFF2-40B4-BE49-F238E27FC236}">
                <a16:creationId xmlns:a16="http://schemas.microsoft.com/office/drawing/2014/main" id="{B0303855-9091-74A8-E0EF-2D407E44BA27}"/>
              </a:ext>
            </a:extLst>
          </p:cNvPr>
          <p:cNvSpPr txBox="1"/>
          <p:nvPr/>
        </p:nvSpPr>
        <p:spPr>
          <a:xfrm>
            <a:off x="946484" y="503747"/>
            <a:ext cx="10664324" cy="5027530"/>
          </a:xfrm>
          <a:prstGeom prst="rect">
            <a:avLst/>
          </a:prstGeom>
          <a:noFill/>
        </p:spPr>
        <p:txBody>
          <a:bodyPr wrap="square">
            <a:spAutoFit/>
          </a:bodyPr>
          <a:lstStyle/>
          <a:p>
            <a:pPr>
              <a:lnSpc>
                <a:spcPct val="150000"/>
              </a:lnSpc>
            </a:pPr>
            <a:endParaRPr lang="en-IN" sz="1800" dirty="0"/>
          </a:p>
          <a:p>
            <a:pPr>
              <a:lnSpc>
                <a:spcPct val="150000"/>
              </a:lnSpc>
            </a:pPr>
            <a:endParaRPr lang="en-IN" dirty="0"/>
          </a:p>
          <a:p>
            <a:pPr>
              <a:lnSpc>
                <a:spcPct val="150000"/>
              </a:lnSpc>
            </a:pPr>
            <a:endParaRPr lang="en-IN" sz="1800" dirty="0"/>
          </a:p>
          <a:p>
            <a:pPr>
              <a:lnSpc>
                <a:spcPct val="150000"/>
              </a:lnSpc>
            </a:pPr>
            <a:endParaRPr lang="en-IN" dirty="0"/>
          </a:p>
          <a:p>
            <a:pPr>
              <a:lnSpc>
                <a:spcPct val="150000"/>
              </a:lnSpc>
            </a:pPr>
            <a:r>
              <a:rPr lang="en-IN" sz="1800" dirty="0"/>
              <a:t>It is </a:t>
            </a:r>
            <a:r>
              <a:rPr lang="en-GB" sz="1800" dirty="0"/>
              <a:t>designed to assist students in understanding academic concepts effectively. The system aims to support self-paced learning by providing instant and accurate responses to student queries. It reduces dependency on long and irrelevant online searches and helps students when teachers are not immediately available. The application explains topics in simple and clear language, making learning easier for beginners. It also supports interactive learning by allowing students to ask questions through a user-friendly interface. Natural Language Processing techniques are used to </a:t>
            </a:r>
            <a:r>
              <a:rPr lang="en-GB" sz="1800" dirty="0" err="1"/>
              <a:t>analyze</a:t>
            </a:r>
            <a:r>
              <a:rPr lang="en-GB" sz="1800" dirty="0"/>
              <a:t> user input and match it with relevant information stored in the dataset. Overall, the proposed solution enhances the learning experience by making education more accessible, interactive, and efficient.</a:t>
            </a:r>
            <a:endParaRPr lang="en-IN" sz="18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4" name="TextBox 3">
            <a:extLst>
              <a:ext uri="{FF2B5EF4-FFF2-40B4-BE49-F238E27FC236}">
                <a16:creationId xmlns:a16="http://schemas.microsoft.com/office/drawing/2014/main" id="{56867017-2F23-D07E-CAB2-B0D8A2076455}"/>
              </a:ext>
            </a:extLst>
          </p:cNvPr>
          <p:cNvSpPr txBox="1"/>
          <p:nvPr/>
        </p:nvSpPr>
        <p:spPr>
          <a:xfrm>
            <a:off x="929640" y="1192869"/>
            <a:ext cx="10287000" cy="4473532"/>
          </a:xfrm>
          <a:prstGeom prst="rect">
            <a:avLst/>
          </a:prstGeom>
          <a:noFill/>
        </p:spPr>
        <p:txBody>
          <a:bodyPr wrap="square">
            <a:spAutoFit/>
          </a:bodyPr>
          <a:lstStyle/>
          <a:p>
            <a:endParaRPr lang="en-GB" dirty="0"/>
          </a:p>
          <a:p>
            <a:endParaRPr lang="en-GB" dirty="0"/>
          </a:p>
          <a:p>
            <a:endParaRPr lang="en-GB" dirty="0"/>
          </a:p>
          <a:p>
            <a:r>
              <a:rPr lang="en-GB" dirty="0"/>
              <a:t>The system uses Natural Language Processing techniques to understand and respond to user queries.</a:t>
            </a:r>
          </a:p>
          <a:p>
            <a:pPr marL="342900" indent="-342900">
              <a:lnSpc>
                <a:spcPct val="150000"/>
              </a:lnSpc>
              <a:buFont typeface="Arial" panose="020B0604020202020204" pitchFamily="34" charset="0"/>
              <a:buChar char="•"/>
            </a:pPr>
            <a:r>
              <a:rPr lang="en-GB" b="1" dirty="0"/>
              <a:t>Python</a:t>
            </a:r>
            <a:r>
              <a:rPr lang="en-GB" dirty="0"/>
              <a:t> – Used for developing the backend logic, data processing, and NLP operations due to its simplicity and rich library support.</a:t>
            </a:r>
          </a:p>
          <a:p>
            <a:pPr marL="342900" indent="-342900">
              <a:lnSpc>
                <a:spcPct val="150000"/>
              </a:lnSpc>
              <a:buFont typeface="Arial" panose="020B0604020202020204" pitchFamily="34" charset="0"/>
              <a:buChar char="•"/>
            </a:pPr>
            <a:r>
              <a:rPr lang="en-GB" b="1" dirty="0" err="1"/>
              <a:t>Streamlit</a:t>
            </a:r>
            <a:r>
              <a:rPr lang="en-GB" dirty="0"/>
              <a:t> – Used to create an interactive and user-friendly web interface for the AI Study Buddy.</a:t>
            </a:r>
          </a:p>
          <a:p>
            <a:pPr marL="342900" indent="-342900">
              <a:lnSpc>
                <a:spcPct val="150000"/>
              </a:lnSpc>
              <a:buFont typeface="Arial" panose="020B0604020202020204" pitchFamily="34" charset="0"/>
              <a:buChar char="•"/>
            </a:pPr>
            <a:r>
              <a:rPr lang="en-GB" dirty="0"/>
              <a:t> </a:t>
            </a:r>
            <a:r>
              <a:rPr lang="en-GB" b="1" dirty="0"/>
              <a:t>Pandas</a:t>
            </a:r>
            <a:r>
              <a:rPr lang="en-GB" dirty="0"/>
              <a:t> – Used for loading, managing, and processing the CSV dataset efficiently.</a:t>
            </a:r>
          </a:p>
          <a:p>
            <a:pPr marL="342900" indent="-342900">
              <a:lnSpc>
                <a:spcPct val="150000"/>
              </a:lnSpc>
              <a:buFont typeface="Arial" panose="020B0604020202020204" pitchFamily="34" charset="0"/>
              <a:buChar char="•"/>
            </a:pPr>
            <a:r>
              <a:rPr lang="en-GB" dirty="0"/>
              <a:t> </a:t>
            </a:r>
            <a:r>
              <a:rPr lang="en-GB" b="1" dirty="0"/>
              <a:t>Scikit-learn</a:t>
            </a:r>
            <a:r>
              <a:rPr lang="en-GB" dirty="0"/>
              <a:t> – Used for implementing TF-IDF vectorization and cosine similarity to match user questions with relevant answers.</a:t>
            </a:r>
          </a:p>
          <a:p>
            <a:pPr marL="342900" indent="-342900">
              <a:lnSpc>
                <a:spcPct val="150000"/>
              </a:lnSpc>
              <a:buFont typeface="Arial" panose="020B0604020202020204" pitchFamily="34" charset="0"/>
              <a:buChar char="•"/>
            </a:pPr>
            <a:r>
              <a:rPr lang="en-GB" b="1" dirty="0"/>
              <a:t>VS Code</a:t>
            </a:r>
            <a:r>
              <a:rPr lang="en-GB" dirty="0"/>
              <a:t> – Used as the code editor for development and debugging.</a:t>
            </a:r>
          </a:p>
          <a:p>
            <a:pPr marL="342900" indent="-342900">
              <a:lnSpc>
                <a:spcPct val="150000"/>
              </a:lnSpc>
              <a:buFont typeface="Arial" panose="020B0604020202020204" pitchFamily="34" charset="0"/>
              <a:buChar char="•"/>
            </a:pPr>
            <a:r>
              <a:rPr lang="en-GB" dirty="0"/>
              <a:t> </a:t>
            </a:r>
            <a:r>
              <a:rPr lang="en-GB" b="1" dirty="0"/>
              <a:t>Natural Language Processing (NLP)</a:t>
            </a:r>
            <a:r>
              <a:rPr lang="en-GB" dirty="0"/>
              <a:t> – Used to </a:t>
            </a:r>
            <a:r>
              <a:rPr lang="en-GB" dirty="0" err="1"/>
              <a:t>analyze</a:t>
            </a:r>
            <a:r>
              <a:rPr lang="en-GB" dirty="0"/>
              <a:t> and understand user input text</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B1DA8C6-194F-5A8A-3E45-7D5064650F5D}"/>
              </a:ext>
            </a:extLst>
          </p:cNvPr>
          <p:cNvSpPr txBox="1"/>
          <p:nvPr/>
        </p:nvSpPr>
        <p:spPr>
          <a:xfrm>
            <a:off x="581192" y="1508760"/>
            <a:ext cx="11153608" cy="5078313"/>
          </a:xfrm>
          <a:prstGeom prst="rect">
            <a:avLst/>
          </a:prstGeom>
          <a:noFill/>
        </p:spPr>
        <p:txBody>
          <a:bodyPr wrap="square">
            <a:spAutoFit/>
          </a:bodyPr>
          <a:lstStyle/>
          <a:p>
            <a:r>
              <a:rPr lang="en-IN" b="1" dirty="0" err="1"/>
              <a:t>Alogirthm</a:t>
            </a:r>
            <a:r>
              <a:rPr lang="en-IN" b="1" dirty="0"/>
              <a:t>:</a:t>
            </a:r>
          </a:p>
          <a:p>
            <a:r>
              <a:rPr lang="en-IN" dirty="0"/>
              <a:t>1.Start the application.</a:t>
            </a:r>
          </a:p>
          <a:p>
            <a:r>
              <a:rPr lang="en-IN" dirty="0"/>
              <a:t>2.Load the question–answer dataset from the CSV file.</a:t>
            </a:r>
          </a:p>
          <a:p>
            <a:r>
              <a:rPr lang="en-IN" dirty="0"/>
              <a:t>3.Preprocess and vectorize questions using TF-IDF.</a:t>
            </a:r>
          </a:p>
          <a:p>
            <a:r>
              <a:rPr lang="en-IN" dirty="0"/>
              <a:t>4.Accept user input through the </a:t>
            </a:r>
            <a:r>
              <a:rPr lang="en-IN" dirty="0" err="1"/>
              <a:t>Streamlit</a:t>
            </a:r>
            <a:r>
              <a:rPr lang="en-IN" dirty="0"/>
              <a:t> </a:t>
            </a:r>
            <a:r>
              <a:rPr lang="en-IN" dirty="0" err="1"/>
              <a:t>interface.Convert</a:t>
            </a:r>
            <a:r>
              <a:rPr lang="en-IN" dirty="0"/>
              <a:t> the input query into vector form.</a:t>
            </a:r>
          </a:p>
          <a:p>
            <a:r>
              <a:rPr lang="en-IN" dirty="0"/>
              <a:t>5.Compute cosine similarity between input and dataset questions.</a:t>
            </a:r>
          </a:p>
          <a:p>
            <a:r>
              <a:rPr lang="en-IN" dirty="0"/>
              <a:t>6.Identify the highest similarity score.</a:t>
            </a:r>
          </a:p>
          <a:p>
            <a:r>
              <a:rPr lang="en-IN" dirty="0"/>
              <a:t>7.Retrieve and display the corresponding answer.</a:t>
            </a:r>
          </a:p>
          <a:p>
            <a:r>
              <a:rPr lang="en-IN" dirty="0"/>
              <a:t>8.Generate quizzes, summaries, or flashcards if selected.</a:t>
            </a:r>
          </a:p>
          <a:p>
            <a:r>
              <a:rPr lang="en-IN" dirty="0"/>
              <a:t>9.End the process.</a:t>
            </a:r>
          </a:p>
          <a:p>
            <a:r>
              <a:rPr lang="en-IN" b="1" dirty="0"/>
              <a:t>Deployment</a:t>
            </a:r>
          </a:p>
          <a:p>
            <a:r>
              <a:rPr lang="en-GB" dirty="0"/>
              <a:t>• The complete project is uploaded to GitHub repository.</a:t>
            </a:r>
            <a:br>
              <a:rPr lang="en-GB" dirty="0"/>
            </a:br>
            <a:r>
              <a:rPr lang="en-GB" dirty="0"/>
              <a:t>• A requirements.txt file is used to manage dependencies.</a:t>
            </a:r>
            <a:br>
              <a:rPr lang="en-GB" dirty="0"/>
            </a:br>
            <a:r>
              <a:rPr lang="en-GB" dirty="0"/>
              <a:t>• </a:t>
            </a:r>
            <a:r>
              <a:rPr lang="en-GB" dirty="0" err="1"/>
              <a:t>Streamlit</a:t>
            </a:r>
            <a:r>
              <a:rPr lang="en-GB" dirty="0"/>
              <a:t> Cloud installs required libraries automatically.</a:t>
            </a:r>
            <a:br>
              <a:rPr lang="en-GB" dirty="0"/>
            </a:br>
            <a:r>
              <a:rPr lang="en-GB" dirty="0"/>
              <a:t>• The application runs on a cloud-based server.</a:t>
            </a:r>
            <a:br>
              <a:rPr lang="en-GB" dirty="0"/>
            </a:br>
            <a:r>
              <a:rPr lang="en-GB" dirty="0"/>
              <a:t>• Users can access the application through a web browser.</a:t>
            </a:r>
            <a:br>
              <a:rPr lang="en-GB" dirty="0"/>
            </a:br>
            <a:r>
              <a:rPr lang="en-GB" dirty="0"/>
              <a:t>• No local installation is required for end users.</a:t>
            </a:r>
            <a:endParaRPr lang="en-IN" dirty="0"/>
          </a:p>
          <a:p>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4" name="TextBox 3">
            <a:extLst>
              <a:ext uri="{FF2B5EF4-FFF2-40B4-BE49-F238E27FC236}">
                <a16:creationId xmlns:a16="http://schemas.microsoft.com/office/drawing/2014/main" id="{42DFEF1C-1EDC-04AE-27CB-15B2568AE847}"/>
              </a:ext>
            </a:extLst>
          </p:cNvPr>
          <p:cNvSpPr txBox="1"/>
          <p:nvPr/>
        </p:nvSpPr>
        <p:spPr>
          <a:xfrm>
            <a:off x="731520" y="1232452"/>
            <a:ext cx="8412480" cy="923330"/>
          </a:xfrm>
          <a:prstGeom prst="rect">
            <a:avLst/>
          </a:prstGeom>
          <a:noFill/>
        </p:spPr>
        <p:txBody>
          <a:bodyPr wrap="square">
            <a:spAutoFit/>
          </a:bodyPr>
          <a:lstStyle/>
          <a:p>
            <a:pPr marL="0" indent="0">
              <a:buNone/>
            </a:pPr>
            <a:r>
              <a:rPr lang="en-GB" sz="1800" dirty="0"/>
              <a:t>The AI Study Buddy was successfully implemented and tested. The system provides accurate answers, summaries, quizzes, and flashcards through an interactive </a:t>
            </a:r>
            <a:r>
              <a:rPr lang="en-GB" sz="1800" dirty="0" err="1"/>
              <a:t>Streamlit</a:t>
            </a:r>
            <a:r>
              <a:rPr lang="en-GB" sz="1800" dirty="0"/>
              <a:t> interface.</a:t>
            </a:r>
            <a:endParaRPr lang="en-GB" sz="1800" b="1" dirty="0">
              <a:latin typeface="Arial"/>
            </a:endParaRPr>
          </a:p>
        </p:txBody>
      </p:sp>
      <p:pic>
        <p:nvPicPr>
          <p:cNvPr id="9" name="Content Placeholder 8">
            <a:extLst>
              <a:ext uri="{FF2B5EF4-FFF2-40B4-BE49-F238E27FC236}">
                <a16:creationId xmlns:a16="http://schemas.microsoft.com/office/drawing/2014/main" id="{E800BCDE-1D3C-1157-05D5-7A0F53C7BE5C}"/>
              </a:ext>
            </a:extLst>
          </p:cNvPr>
          <p:cNvPicPr>
            <a:picLocks noGrp="1" noChangeAspect="1"/>
          </p:cNvPicPr>
          <p:nvPr>
            <p:ph idx="1"/>
          </p:nvPr>
        </p:nvPicPr>
        <p:blipFill>
          <a:blip r:embed="rId2"/>
          <a:srcRect b="38559"/>
          <a:stretch>
            <a:fillRect/>
          </a:stretch>
        </p:blipFill>
        <p:spPr>
          <a:xfrm>
            <a:off x="581025" y="2423160"/>
            <a:ext cx="11029950" cy="3886199"/>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r>
              <a:rPr lang="en-GB" sz="2000" dirty="0">
                <a:highlight>
                  <a:srgbClr val="FFFFFF"/>
                </a:highlight>
              </a:rPr>
              <a:t>The AI Study Buddy for Students was successfully designed and implemented to support effective and self-paced learning. The system addresses common learning challenges by providing simple explanations, summarizing study notes, and offering interactive features such as quizzes and flashcards.</a:t>
            </a:r>
          </a:p>
          <a:p>
            <a:r>
              <a:rPr lang="en-GB" sz="2000" dirty="0">
                <a:highlight>
                  <a:srgbClr val="FFFFFF"/>
                </a:highlight>
              </a:rPr>
              <a:t>By using Natural Language Processing techniques like TF-IDF and cosine similarity, the application delivers relevant and accurate responses based on the given dataset. The </a:t>
            </a:r>
            <a:r>
              <a:rPr lang="en-GB" sz="2000" dirty="0" err="1">
                <a:highlight>
                  <a:srgbClr val="FFFFFF"/>
                </a:highlight>
              </a:rPr>
              <a:t>Streamlit</a:t>
            </a:r>
            <a:r>
              <a:rPr lang="en-GB" sz="2000" dirty="0">
                <a:highlight>
                  <a:srgbClr val="FFFFFF"/>
                </a:highlight>
              </a:rPr>
              <a:t> interface makes the system easy to use and engaging for students.</a:t>
            </a:r>
          </a:p>
          <a:p>
            <a:r>
              <a:rPr lang="en-GB" sz="2000" dirty="0">
                <a:highlight>
                  <a:srgbClr val="FFFFFF"/>
                </a:highlight>
              </a:rPr>
              <a:t>Overall, the AI Study Buddy enhances the learning experience by saving time, improving understanding, and encouraging active student participation. The project demonstrates how AI and NLP can be effectively applied in the field of education.</a:t>
            </a:r>
          </a:p>
          <a:p>
            <a:pPr marL="305435" indent="-305435"/>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778933" y="2990334"/>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TextBox 2">
            <a:extLst>
              <a:ext uri="{FF2B5EF4-FFF2-40B4-BE49-F238E27FC236}">
                <a16:creationId xmlns:a16="http://schemas.microsoft.com/office/drawing/2014/main" id="{3E4327FB-8881-AA5B-D14E-9AD5AA5452CD}"/>
              </a:ext>
            </a:extLst>
          </p:cNvPr>
          <p:cNvSpPr txBox="1"/>
          <p:nvPr/>
        </p:nvSpPr>
        <p:spPr>
          <a:xfrm>
            <a:off x="535670" y="1582341"/>
            <a:ext cx="10421890" cy="4031873"/>
          </a:xfrm>
          <a:prstGeom prst="rect">
            <a:avLst/>
          </a:prstGeom>
          <a:noFill/>
        </p:spPr>
        <p:txBody>
          <a:bodyPr wrap="square">
            <a:spAutoFit/>
          </a:bodyPr>
          <a:lstStyle/>
          <a:p>
            <a:endParaRPr lang="en-GB" sz="1800" dirty="0"/>
          </a:p>
          <a:p>
            <a:endParaRPr lang="en-GB" dirty="0"/>
          </a:p>
          <a:p>
            <a:r>
              <a:rPr lang="en-GB" sz="2000" dirty="0"/>
              <a:t>The AI Study Buddy can be further enhanced to provide a more advanced and personalized learning experience.</a:t>
            </a:r>
          </a:p>
          <a:p>
            <a:pPr marL="0" indent="0">
              <a:buNone/>
            </a:pPr>
            <a:r>
              <a:rPr lang="en-GB" sz="2000" dirty="0"/>
              <a:t>• Integration of advanced AI models such as Transformers for more accurate and detailed responses</a:t>
            </a:r>
            <a:br>
              <a:rPr lang="en-GB" sz="2000" dirty="0"/>
            </a:br>
            <a:r>
              <a:rPr lang="en-GB" sz="2000" dirty="0"/>
              <a:t>• Support for multiple subjects and larger datasets</a:t>
            </a:r>
            <a:br>
              <a:rPr lang="en-GB" sz="2000" dirty="0"/>
            </a:br>
            <a:r>
              <a:rPr lang="en-GB" sz="2000" dirty="0"/>
              <a:t>• Voice-based interaction using speech recognition</a:t>
            </a:r>
            <a:br>
              <a:rPr lang="en-GB" sz="2000" dirty="0"/>
            </a:br>
            <a:r>
              <a:rPr lang="en-GB" sz="2000" dirty="0"/>
              <a:t>• Personalized learning recommendations based on user performance</a:t>
            </a:r>
            <a:br>
              <a:rPr lang="en-GB" sz="2000" dirty="0"/>
            </a:br>
            <a:r>
              <a:rPr lang="en-GB" sz="2000" dirty="0"/>
              <a:t>• Mobile application development for wider accessibility</a:t>
            </a:r>
            <a:br>
              <a:rPr lang="en-GB" sz="2000" dirty="0"/>
            </a:br>
            <a:r>
              <a:rPr lang="en-GB" sz="2000" dirty="0"/>
              <a:t>• Cloud deployment for remote access and scalability</a:t>
            </a:r>
          </a:p>
          <a:p>
            <a:r>
              <a:rPr lang="en-GB" sz="2000" dirty="0"/>
              <a:t>These enhancements will make the system more intelligent, flexible, and user-centric, improving its effectiveness in modern education.</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Rectangle 1">
            <a:extLst>
              <a:ext uri="{FF2B5EF4-FFF2-40B4-BE49-F238E27FC236}">
                <a16:creationId xmlns:a16="http://schemas.microsoft.com/office/drawing/2014/main" id="{8539D5A4-EC8F-694D-4A5D-A7AF4147BFD4}"/>
              </a:ext>
            </a:extLst>
          </p:cNvPr>
          <p:cNvSpPr>
            <a:spLocks noChangeArrowheads="1"/>
          </p:cNvSpPr>
          <p:nvPr/>
        </p:nvSpPr>
        <p:spPr bwMode="auto">
          <a:xfrm>
            <a:off x="581192" y="982740"/>
            <a:ext cx="814259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Python Software Foundation, </a:t>
            </a:r>
            <a:r>
              <a:rPr kumimoji="0" lang="en-US" altLang="en-US" sz="2000" b="0" i="1" u="none" strike="noStrike" cap="none" normalizeH="0" baseline="0" dirty="0">
                <a:ln>
                  <a:noFill/>
                </a:ln>
                <a:solidFill>
                  <a:schemeClr val="tx1"/>
                </a:solidFill>
                <a:effectLst/>
                <a:latin typeface="Arial" panose="020B0604020202020204" pitchFamily="34" charset="0"/>
              </a:rPr>
              <a:t>Python Documentation</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Streamlit</a:t>
            </a:r>
            <a:r>
              <a:rPr kumimoji="0" lang="en-US" altLang="en-US" sz="2000" b="0" i="0" u="none" strike="noStrike" cap="none" normalizeH="0" baseline="0" dirty="0">
                <a:ln>
                  <a:noFill/>
                </a:ln>
                <a:solidFill>
                  <a:schemeClr val="tx1"/>
                </a:solidFill>
                <a:effectLst/>
                <a:latin typeface="Arial" panose="020B0604020202020204" pitchFamily="34" charset="0"/>
              </a:rPr>
              <a:t> Inc., </a:t>
            </a:r>
            <a:r>
              <a:rPr kumimoji="0" lang="en-US" altLang="en-US" sz="2000" b="0" i="1" u="none" strike="noStrike" cap="none" normalizeH="0" baseline="0" dirty="0" err="1">
                <a:ln>
                  <a:noFill/>
                </a:ln>
                <a:solidFill>
                  <a:schemeClr val="tx1"/>
                </a:solidFill>
                <a:effectLst/>
                <a:latin typeface="Arial" panose="020B0604020202020204" pitchFamily="34" charset="0"/>
              </a:rPr>
              <a:t>Streamlit</a:t>
            </a:r>
            <a:r>
              <a:rPr kumimoji="0" lang="en-US" altLang="en-US" sz="2000" b="0" i="1" u="none" strike="noStrike" cap="none" normalizeH="0" baseline="0" dirty="0">
                <a:ln>
                  <a:noFill/>
                </a:ln>
                <a:solidFill>
                  <a:schemeClr val="tx1"/>
                </a:solidFill>
                <a:effectLst/>
                <a:latin typeface="Arial" panose="020B0604020202020204" pitchFamily="34" charset="0"/>
              </a:rPr>
              <a:t> Documentation</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Scikit-learn Developers, </a:t>
            </a:r>
            <a:r>
              <a:rPr kumimoji="0" lang="en-US" altLang="en-US" sz="2000" b="0" i="1" u="none" strike="noStrike" cap="none" normalizeH="0" baseline="0" dirty="0">
                <a:ln>
                  <a:noFill/>
                </a:ln>
                <a:solidFill>
                  <a:schemeClr val="tx1"/>
                </a:solidFill>
                <a:effectLst/>
                <a:latin typeface="Arial" panose="020B0604020202020204" pitchFamily="34" charset="0"/>
              </a:rPr>
              <a:t>Scikit-learn: Machine Learning in Python</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Salton, G., Wong, A., &amp; Yang, C. S., </a:t>
            </a:r>
            <a:r>
              <a:rPr kumimoji="0" lang="en-US" altLang="en-US" sz="2000" b="0" i="1" u="none" strike="noStrike" cap="none" normalizeH="0" baseline="0" dirty="0">
                <a:ln>
                  <a:noFill/>
                </a:ln>
                <a:solidFill>
                  <a:schemeClr val="tx1"/>
                </a:solidFill>
                <a:effectLst/>
                <a:latin typeface="Arial" panose="020B0604020202020204" pitchFamily="34" charset="0"/>
              </a:rPr>
              <a:t>A Vector Space Model for Automatic Indexing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Natural Language Processing Concepts – TF-IDF and Cosine Similarity,</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Kaggle and Educational Open Datasets (for learning and experimentation)</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a:t>
            </a:r>
            <a:r>
              <a:rPr lang="en-IN" u="sng" dirty="0">
                <a:ea typeface="+mn-lt"/>
                <a:cs typeface="+mn-lt"/>
              </a:rPr>
              <a:t>https://github.com/Vinaya2110/ai-study-</a:t>
            </a:r>
            <a:r>
              <a:rPr lang="en-IN" u="sng" dirty="0" err="1">
                <a:ea typeface="+mn-lt"/>
                <a:cs typeface="+mn-lt"/>
              </a:rPr>
              <a:t>buddy.git</a:t>
            </a:r>
            <a:endParaRPr lang="en-IN" u="sng" dirty="0">
              <a:ea typeface="+mn-lt"/>
              <a:cs typeface="+mn-lt"/>
            </a:endParaRPr>
          </a:p>
          <a:p>
            <a:endParaRPr lang="en-IN" dirty="0"/>
          </a:p>
          <a:p>
            <a:r>
              <a:rPr lang="en-IN" dirty="0"/>
              <a:t>Deployment Link: https://ai-study-buddy-wxlt8sjoz4jkklul4pct2v.streamlit.app/</a:t>
            </a:r>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1139</TotalTime>
  <Words>925</Words>
  <Application>Microsoft Office PowerPoint</Application>
  <PresentationFormat>Widescreen</PresentationFormat>
  <Paragraphs>74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Manthalker Vishakha</cp:lastModifiedBy>
  <cp:revision>41</cp:revision>
  <dcterms:created xsi:type="dcterms:W3CDTF">2021-05-26T16:50:10Z</dcterms:created>
  <dcterms:modified xsi:type="dcterms:W3CDTF">2026-01-26T12:50:49Z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